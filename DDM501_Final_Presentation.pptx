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Skin Cancer Classification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6D6"/>
                </a:solidFill>
                <a:latin typeface="Calibri"/>
              </a:defRPr>
            </a:pPr>
            <a:r>
              <a:t>End-to-End ML System for Dermoscopic Image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474720"/>
            <a:ext cx="393192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DDM501 — AI in Production: From Models to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Calibri"/>
              </a:defRPr>
            </a:pPr>
            <a:r>
              <a:t>Final Project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5120640"/>
            <a:ext cx="2560320" cy="1097280"/>
          </a:xfrm>
          <a:prstGeom prst="roundRect">
            <a:avLst/>
          </a:prstGeom>
          <a:solidFill>
            <a:srgbClr val="252540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5166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D6"/>
                </a:solidFill>
                <a:latin typeface="Calibri"/>
              </a:defRPr>
            </a:pPr>
            <a:r>
              <a:t>9 Classes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5577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ISIC 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5120640"/>
            <a:ext cx="2560320" cy="1097280"/>
          </a:xfrm>
          <a:prstGeom prst="roundRect">
            <a:avLst/>
          </a:prstGeom>
          <a:solidFill>
            <a:srgbClr val="252540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5166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D6"/>
                </a:solidFill>
                <a:latin typeface="Calibri"/>
              </a:defRPr>
            </a:pPr>
            <a:r>
              <a:t>4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577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CNN · ResNet · EfficientNet · ViT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5120640"/>
            <a:ext cx="2560320" cy="1097280"/>
          </a:xfrm>
          <a:prstGeom prst="roundRect">
            <a:avLst/>
          </a:prstGeom>
          <a:solidFill>
            <a:srgbClr val="252540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5166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D6"/>
                </a:solidFill>
                <a:latin typeface="Calibri"/>
              </a:defRPr>
            </a:pPr>
            <a:r>
              <a:t>Full MLOps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5577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Train · Deploy · Monitor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371600"/>
            <a:ext cx="548640" cy="54864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25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Problem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691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Business context, 9-class skin cancer detection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377440"/>
            <a:ext cx="548640" cy="548640"/>
          </a:xfrm>
          <a:prstGeom prst="ellipse">
            <a:avLst/>
          </a:prstGeom>
          <a:solidFill>
            <a:srgbClr val="00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331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Technical Deep 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697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Architecture, data pipeline, models, training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383280"/>
            <a:ext cx="548640" cy="5486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337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Deployment &amp;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703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Docker, API, Prometheus, Grafana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389120"/>
            <a:ext cx="548640" cy="548640"/>
          </a:xfrm>
          <a:prstGeom prst="ellipse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343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Responsible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709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Explainability, fairness, ethics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394960"/>
            <a:ext cx="548640" cy="54864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349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Live Demo &amp; Q&amp;A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5715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End-to-end demonstration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&amp;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097280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303520" cy="22860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303520" cy="41148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Skin cancer is the most common cancer globally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Early detection dramatically improves survival rates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Dermatologists face high workload &amp; diagnostic variability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Visual inspection accuracy varies 65-80%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303520" cy="22860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303520" cy="411480"/>
          </a:xfrm>
          <a:prstGeom prst="rect">
            <a:avLst/>
          </a:prstGeom>
          <a:solidFill>
            <a:srgbClr val="00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AI-assisted dermoscopic image classification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9 lesion classes (3 malignant, 6 benign)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Decision support tool — human-in-the-loop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Real-time API with confidence &amp; risk assessment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3474720" cy="22860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3474720" cy="4114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160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SUCCESS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17720"/>
            <a:ext cx="3108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Missed malignancy rate &lt; 5%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API latency p95 &lt; 2 seconds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Macro recall &gt; 0.75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Macro ROC-AUC &gt; 0.85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114800"/>
            <a:ext cx="3474720" cy="22860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4114800"/>
            <a:ext cx="3474720" cy="411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4160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 SKIN LESION CLASSES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617720"/>
            <a:ext cx="3108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Malignant: Melanoma, BCC, SCC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Benign: Nevus, Seb. Keratosis,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Pigmented BK, Actinic Keratosis,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Dermatofibroma, Vascular Lesion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4114800"/>
            <a:ext cx="3474720" cy="22860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4114800"/>
            <a:ext cx="347472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4160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DESIGN 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617720"/>
            <a:ext cx="3108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Recall-focused (minimize false negatives)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Multi-model comparison approach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Full MLOps lifecycle coverage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Responsible AI first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097280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2011680" cy="1188720"/>
          </a:xfrm>
          <a:prstGeom prst="roundRect">
            <a:avLst/>
          </a:prstGeom>
          <a:solidFill>
            <a:srgbClr val="25254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ISIC Dataset</a:t>
            </a:r>
          </a:p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9 Classes</a:t>
            </a:r>
          </a:p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2,475 images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554480"/>
            <a:ext cx="2011680" cy="1188720"/>
          </a:xfrm>
          <a:prstGeom prst="roundRect">
            <a:avLst/>
          </a:prstGeom>
          <a:solidFill>
            <a:srgbClr val="252540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Data Pipeline</a:t>
            </a:r>
          </a:p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Augmentor Balance</a:t>
            </a:r>
          </a:p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Train/Val/Test Split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54480"/>
            <a:ext cx="2011680" cy="1188720"/>
          </a:xfrm>
          <a:prstGeom prst="roundRect">
            <a:avLst/>
          </a:prstGeom>
          <a:solidFill>
            <a:srgbClr val="252540"/>
          </a:solidFill>
          <a:ln w="25400">
            <a:solidFill>
              <a:srgbClr val="00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Model Training</a:t>
            </a:r>
          </a:p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4 Architectures</a:t>
            </a:r>
          </a:p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MLflow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554480"/>
            <a:ext cx="2011680" cy="1188720"/>
          </a:xfrm>
          <a:prstGeom prst="roundRect">
            <a:avLst/>
          </a:prstGeom>
          <a:solidFill>
            <a:srgbClr val="252540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Evaluation</a:t>
            </a:r>
          </a:p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Recall-focused</a:t>
            </a:r>
          </a:p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Model Selection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0" y="1554480"/>
            <a:ext cx="2011680" cy="1188720"/>
          </a:xfrm>
          <a:prstGeom prst="roundRect">
            <a:avLst/>
          </a:prstGeom>
          <a:solidFill>
            <a:srgbClr val="252540"/>
          </a:solidFill>
          <a:ln w="25400"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FastAPI</a:t>
            </a:r>
          </a:p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Serving</a:t>
            </a:r>
          </a:p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Multi-model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86000" y="1965960"/>
            <a:ext cx="365760" cy="274320"/>
          </a:xfrm>
          <a:prstGeom prst="right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4663440" y="1965960"/>
            <a:ext cx="365760" cy="274320"/>
          </a:xfrm>
          <a:prstGeom prst="right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040880" y="1965960"/>
            <a:ext cx="365760" cy="274320"/>
          </a:xfrm>
          <a:prstGeom prst="right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9418320" y="1965960"/>
            <a:ext cx="365760" cy="274320"/>
          </a:xfrm>
          <a:prstGeom prst="right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" y="3017520"/>
            <a:ext cx="5486400" cy="34747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17520"/>
            <a:ext cx="5486400" cy="4114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063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20440"/>
            <a:ext cx="51206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ML Framework: PyTorch 2.0+ (MPS/CUDA/CPU)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Model Hub: torchvision + timm (ViT)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API: FastAPI + Uvicorn (async, auto-docs)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Experiment Tracking: MLflow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Containerization: Docker + Docker Compose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Monitoring: Prometheus + Grafana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Explainability: pytorch-grad-cam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Data Balancing: Augmentor (offline oversampling)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017520"/>
            <a:ext cx="5486400" cy="34747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017520"/>
            <a:ext cx="5486400" cy="411480"/>
          </a:xfrm>
          <a:prstGeom prst="rect">
            <a:avLst/>
          </a:prstGeom>
          <a:solidFill>
            <a:srgbClr val="00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063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TRADE-OFFS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520440"/>
            <a:ext cx="51206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PyTorch &gt; TensorFlow: timm ecosystem, dynamic graphs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FastAPI &gt; Flask: async, auto OpenAPI, Pydantic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Weighted loss + sampling: dual imbalance handling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AdamW + CosineAnnealing: better generalization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Docker Compose &gt; K8s: right-sized complexity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Label smoothing 0.1: reduces overconfidence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Recall &gt; Accuracy: medical false-negative priority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 Pipeline &amp; Augmentation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097280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3657600" cy="25603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3657600" cy="4114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ISIC Skin Cancer (Kaggle)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2,475 total images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9 classes (highly imbalanced)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Train/Val split: 85%/15% stratified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Separate Test folder (118 images)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554480"/>
            <a:ext cx="3657600" cy="25603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554480"/>
            <a:ext cx="3657600" cy="411480"/>
          </a:xfrm>
          <a:prstGeom prst="rect">
            <a:avLst/>
          </a:prstGeom>
          <a:solidFill>
            <a:srgbClr val="00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600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CLASS BALANCING (Augmentor)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57400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Offline oversampling to 1000/class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Rotate, flip, zoom, distortion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Persistent cache (skip if exists)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9,000 balanced training images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+ WeightedRandomSampler at runtime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657600" cy="25603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554480"/>
            <a:ext cx="3657600" cy="411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600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ONLINE AUGMENTATION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57400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RandomCrop (256 → 224)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Horizontal + Vertical flip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Rotation ±30°, ColorJitter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GaussianBlur, RandomErasing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ImageNet normalization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389120"/>
            <a:ext cx="11430000" cy="21031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389120"/>
            <a:ext cx="11430000" cy="4114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4348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92040"/>
            <a:ext cx="11064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Raw Images → Load Paths &amp; Labels → Stratified Split (85/15) → Augmentor Balancing (1000/class) → Online Transforms → WeightedRandomSampler → DataLoader (batch=32)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Three-layer imbalance strategy:  (1) Augmentor offline oversampling  →  (2) Weighted class loss  →  (3) Weighted random sampling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This ensures every batch has balanced class representation even with originally skewed data (e.g., Nevus 357 vs Dermatofibroma 30)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Model Architectures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097280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2743200" cy="3200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2743200" cy="4114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Custom CNN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23774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4 Conv blocks (3→32→64→128→256)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BatchNorm + Dropout2d per block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Global Average Pooling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Classifier: 256→512→128→9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LR: 1e-3 (train from scratch)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~1.2M parameters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554480"/>
            <a:ext cx="2743200" cy="3200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554480"/>
            <a:ext cx="2743200" cy="411480"/>
          </a:xfrm>
          <a:prstGeom prst="rect">
            <a:avLst/>
          </a:prstGeom>
          <a:solidFill>
            <a:srgbClr val="00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ResNet50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057400"/>
            <a:ext cx="23774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ImageNet V2 pretrained weights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Freeze all except layer4 + fc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Custom head: 2048→512→9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Dropout 0.5 + 0.3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LR: 1e-4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~24M params (2.4M trainable)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554480"/>
            <a:ext cx="2743200" cy="3200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554480"/>
            <a:ext cx="2743200" cy="411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EfficientNet-B0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057400"/>
            <a:ext cx="23774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ImageNet V1 pretrained weights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Freeze except features.8 + classifier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Custom head: 1280→512→9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Dropout 0.5 + 0.3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LR: 1e-4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~4.3M params (0.8M trainable)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554480"/>
            <a:ext cx="2743200" cy="3200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1554480"/>
            <a:ext cx="2743200" cy="41148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ViT-B/16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057400"/>
            <a:ext cx="23774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timm pretrained (ImageNet-21k)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Freeze except blocks 10-11 + norm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Custom head: 768→256→9 (GELU)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LayerNorm + Dropout 0.3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LR: 5e-5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~86M params (14M trainable)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5029200"/>
            <a:ext cx="11430000" cy="14630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5029200"/>
            <a:ext cx="11430000" cy="4114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0749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TRAINING CONFIGURATION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5321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Optimizer: AdamW (weight_decay=1e-4)  |  Scheduler: CosineAnnealingWarmRestarts (T₀=10, T_mult=2)  |  Loss: CrossEntropy (weighted + label_smoothing=0.1)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Early Stopping: patience=7  |  Epochs: 30 max  |  Batch: 32  |  Device: CUDA/MPS/CPU auto-detect  |  Experiment Tracking: MLflow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Training Results &amp;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097280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Model comparison on validation set (best checkpoint):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011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Best Epoch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Val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011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Val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011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Val 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23160"/>
            <a:ext cx="10058400" cy="127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ResNet50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TBD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TBD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TBD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TBD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Best performer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971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EfficientNet-B0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971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TBD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971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TBD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971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TBD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971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TBD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971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Default 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383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ViT-B/16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33832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TBD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38327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TBD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3832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TBD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3832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TBD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3383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Transformer baseline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Custom CNN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3794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TBD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3794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TBD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3794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TBD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3794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TBD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3794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Scratch baseline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📊 Update TBD values with actual results after training completes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5029200"/>
            <a:ext cx="5486400" cy="14630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5029200"/>
            <a:ext cx="5486400" cy="4114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074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EVALUATION METRICS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53212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Accuracy, Precision, Recall, F1 (macro/weighted)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ROC-AUC (one-vs-rest), Confusion Matrix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Per-class classification report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Cross-model comparison (recall-ranked)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5029200"/>
            <a:ext cx="5486400" cy="14630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5029200"/>
            <a:ext cx="5486400" cy="411480"/>
          </a:xfrm>
          <a:prstGeom prst="rect">
            <a:avLst/>
          </a:prstGeom>
          <a:solidFill>
            <a:srgbClr val="00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5074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MODEL SELECTION CRITERIA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53212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Primary: Macro Recall (minimize missed cancer)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Secondary: F1-Score (balance precision/recall)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Clinical priority: false negatives &gt; false positives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Best model auto-selected for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Deployment &amp;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097280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3657600" cy="25603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3657600" cy="4114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DOCKER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Multi-stage Dockerfile (slim build)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Non-root user (appuser)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Docker Compose: 4 services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- API (port 8000)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- Prometheus (port 9090)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- Grafana (port 3000)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- MLflow (port 5000)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554480"/>
            <a:ext cx="3657600" cy="25603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554480"/>
            <a:ext cx="3657600" cy="411480"/>
          </a:xfrm>
          <a:prstGeom prst="rect">
            <a:avLst/>
          </a:prstGeom>
          <a:solidFill>
            <a:srgbClr val="00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600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REST API (FastAPI)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57400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POST /predict — classify image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GET /models — list available models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GET /health — health check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GET /classes — class metadata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GET /metrics — Prometheus metrics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Auto OpenAPI docs at /docs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Multi-model selection per request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657600" cy="25603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554480"/>
            <a:ext cx="3657600" cy="411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600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API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57400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predicted_class: "melanoma"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confidence: 0.87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is_malignant: true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risk_level: "HIGH"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probabilities: {all 9 classes}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model_used: resnet50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Input validation: type + size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389120"/>
            <a:ext cx="5486400" cy="219456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E65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389120"/>
            <a:ext cx="5486400" cy="411480"/>
          </a:xfrm>
          <a:prstGeom prst="rect">
            <a:avLst/>
          </a:prstGeom>
          <a:solidFill>
            <a:srgbClr val="E65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434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PROMETHEUS 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92040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skin_cancer_predictions_total (by class, risk)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skin_cancer_prediction_latency_seconds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skin_cancer_prediction_confidence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skin_cancer_malignant_predictions_total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skin_cancer_low_confidence_predictions_total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skin_cancer_class_distribution_total (drift)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389120"/>
            <a:ext cx="5486400" cy="219456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389120"/>
            <a:ext cx="5486400" cy="411480"/>
          </a:xfrm>
          <a:prstGeom prst="rect">
            <a:avLst/>
          </a:prstGeom>
          <a:solidFill>
            <a:srgbClr val="00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434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GRAFANA DASHBOARDS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92040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Prediction volume &amp; rate over time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Latency distribution (p50/p95/p99)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Confidence histogram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Class distribution (data drift detection)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Malignant vs benign ratio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Alert rules for anomalies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&amp; Quality Assurance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097280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2743200" cy="27432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2743200" cy="4114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UNIT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23774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Model output shapes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Freeze/unfreeze behavior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Forward + backward pass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Gradient flow verification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Model factory selection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554480"/>
            <a:ext cx="2743200" cy="27432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554480"/>
            <a:ext cx="2743200" cy="411480"/>
          </a:xfrm>
          <a:prstGeom prst="rect">
            <a:avLst/>
          </a:prstGeom>
          <a:solidFill>
            <a:srgbClr val="00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API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057400"/>
            <a:ext cx="23774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Endpoint response codes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Input validation errors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File type/size rejection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OpenAPI spec availability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Health check endpoint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554480"/>
            <a:ext cx="2743200" cy="27432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554480"/>
            <a:ext cx="2743200" cy="411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 QUALITY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057400"/>
            <a:ext cx="23774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Transform output shapes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Dataset item integrity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Class constant consistency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Class weight computation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Weighted sampler behavior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554480"/>
            <a:ext cx="2560320" cy="27432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26880" y="1554480"/>
            <a:ext cx="2560320" cy="41148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INTEGRATION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057400"/>
            <a:ext cx="21945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End-to-end prediction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Result schema validation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Probability sum check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Risk level output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Multi-model inference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572000"/>
            <a:ext cx="11430000" cy="201168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572000"/>
            <a:ext cx="1143000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6177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MLOps PRACTICES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074920"/>
            <a:ext cx="11064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MLflow Experiment Tracking: all hyperparameters, metrics, and model artifacts logged per training run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Model Versioning: best checkpoint saved with epoch, metrics, and architecture metadata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Reproducibility: fixed random seeds, stratified splits, pinned dependencies (requirements.txt)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Security: non-root Docker, multi-stage builds, read-only model volumes, input validation, no PII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Responsible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097280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3657600" cy="27432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3657600" cy="4114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EXPLAINABILITY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291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Grad-CAM heatmaps for CNN/ResNet/EfficientNet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ViT-compatible attention visualization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Visual explanation of model decisions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Helps clinicians understand predictions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Batch explainability report generation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554480"/>
            <a:ext cx="3657600" cy="27432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554480"/>
            <a:ext cx="3657600" cy="411480"/>
          </a:xfrm>
          <a:prstGeom prst="rect">
            <a:avLst/>
          </a:prstGeom>
          <a:solidFill>
            <a:srgbClr val="00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600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FAIRNESS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57400"/>
            <a:ext cx="3291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Per-class recall/precision disparity metrics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Best/worst class gap analysis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Equalized odds proxy check (gap &lt; 0.2)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Optional subgroup auditing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Recall-focused: minimize missed diagnosis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657600" cy="27432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554480"/>
            <a:ext cx="3657600" cy="41148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600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ETHICAL CONSIDERATIONS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57400"/>
            <a:ext cx="3291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Decision SUPPORT — not autonomous diagnosis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Human-in-the-loop design philosophy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Risk level flagging for malignant cases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Confidence threshold for low-certainty alerts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Generated ethics report artifact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572000"/>
            <a:ext cx="5486400" cy="201168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572000"/>
            <a:ext cx="5486400" cy="411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617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 PRIVACY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7492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ISIC images are de-identified (no PII)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No patient data stored or transmitted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API processes images in-memory only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HIPAA-aware design considerations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572000"/>
            <a:ext cx="5486400" cy="201168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572000"/>
            <a:ext cx="548640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617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GOVERNANCE &amp;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07492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Model limitations clearly documented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Not intended for clinical deployment without validation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Continuous monitoring for prediction drift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Generated responsible AI report with recommendations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097280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08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Start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docker-compose up → API + Prometheus + Grafana + MLflow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00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68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API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88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POST /predict with dermoscopic image → class + confidence + risk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474720"/>
            <a:ext cx="502920" cy="5029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429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Multi-Model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749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Switch models via ?model_name=resnet50 / efficientnet / vit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434840"/>
            <a:ext cx="502920" cy="502920"/>
          </a:xfrm>
          <a:prstGeom prst="ellipse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389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709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Grafana dashboards: latency, class distribution, alerts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394960"/>
            <a:ext cx="502920" cy="50292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349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Explainability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6692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Grad-CAM heatmap showing model attention regions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6D6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840480"/>
            <a:ext cx="301752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Calibri"/>
              </a:defRPr>
            </a:pPr>
            <a:r>
              <a:t>DDM501 — AI in Production: From Models to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Skin Cancer Classification — End-to-End ML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5486400"/>
            <a:ext cx="2286000" cy="731520"/>
          </a:xfrm>
          <a:prstGeom prst="roundRect">
            <a:avLst/>
          </a:prstGeom>
          <a:solidFill>
            <a:srgbClr val="252540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5532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D6"/>
                </a:solidFill>
                <a:latin typeface="Calibri"/>
              </a:defRPr>
            </a:pPr>
            <a:r>
              <a:t>GitHub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5806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github.com/...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5486400"/>
            <a:ext cx="2286000" cy="731520"/>
          </a:xfrm>
          <a:prstGeom prst="roundRect">
            <a:avLst/>
          </a:prstGeom>
          <a:solidFill>
            <a:srgbClr val="252540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5532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D6"/>
                </a:solidFill>
                <a:latin typeface="Calibri"/>
              </a:defRPr>
            </a:pPr>
            <a:r>
              <a:t>API Docs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5806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localhost:8000/docs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5486400"/>
            <a:ext cx="2286000" cy="731520"/>
          </a:xfrm>
          <a:prstGeom prst="roundRect">
            <a:avLst/>
          </a:prstGeom>
          <a:solidFill>
            <a:srgbClr val="252540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5532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D6"/>
                </a:solidFill>
                <a:latin typeface="Calibri"/>
              </a:defRPr>
            </a:pPr>
            <a:r>
              <a:t>Grafana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5806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localhost:3000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